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4d0dbb18f24cc5" /><Relationship Type="http://schemas.openxmlformats.org/officeDocument/2006/relationships/extended-properties" Target="/docProps/app.xml" Id="Rdf1dc8cf33b040fd" /><Relationship Type="http://schemas.openxmlformats.org/officeDocument/2006/relationships/officeDocument" Target="/ppt/presentation.xml" Id="R2ce059a1f7a146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84844a8ed54ac2"/>
  </p:sldMasterIdLst>
  <p:notesMasterIdLst>
    <p:notesMasterId xmlns:r="http://schemas.openxmlformats.org/officeDocument/2006/relationships" r:id="R444498541cdc4bad"/>
  </p:notesMasterIdLst>
  <p:sldIdLst>
    <p:sldId xmlns:r="http://schemas.openxmlformats.org/officeDocument/2006/relationships" id="256" r:id="R6ff88c45562549c1"/>
    <p:sldId xmlns:r="http://schemas.openxmlformats.org/officeDocument/2006/relationships" id="257" r:id="R862179fa0127461f"/>
    <p:sldId xmlns:r="http://schemas.openxmlformats.org/officeDocument/2006/relationships" id="258" r:id="Radb03016b9ff4cf2"/>
    <p:sldId xmlns:r="http://schemas.openxmlformats.org/officeDocument/2006/relationships" id="259" r:id="R603a3ea74c6242b6"/>
    <p:sldId xmlns:r="http://schemas.openxmlformats.org/officeDocument/2006/relationships" id="260" r:id="Rba49acdf86be4990"/>
    <p:sldId xmlns:r="http://schemas.openxmlformats.org/officeDocument/2006/relationships" id="261" r:id="Rcb691dc4e6ce4970"/>
    <p:sldId xmlns:r="http://schemas.openxmlformats.org/officeDocument/2006/relationships" id="262" r:id="R585a0ff37b404e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852ff33e484daf" /><Relationship Type="http://schemas.openxmlformats.org/officeDocument/2006/relationships/slideMaster" Target="/ppt/slideMasters/slideMaster1.xml" Id="Ra884844a8ed54ac2" /><Relationship Type="http://schemas.openxmlformats.org/officeDocument/2006/relationships/notesMaster" Target="/ppt/notesMasters/notesMaster1.xml" Id="R444498541cdc4bad" /><Relationship Type="http://schemas.openxmlformats.org/officeDocument/2006/relationships/presProps" Target="/ppt/presProps.xml" Id="R6b0d4c9833624539" /><Relationship Type="http://schemas.openxmlformats.org/officeDocument/2006/relationships/tableStyles" Target="/ppt/tableStyles.xml" Id="R6fa1a4295e474490" /><Relationship Type="http://schemas.openxmlformats.org/officeDocument/2006/relationships/slide" Target="/ppt/slides/slide1.xml" Id="R6ff88c45562549c1" /><Relationship Type="http://schemas.openxmlformats.org/officeDocument/2006/relationships/slide" Target="/ppt/slides/slide2.xml" Id="R862179fa0127461f" /><Relationship Type="http://schemas.openxmlformats.org/officeDocument/2006/relationships/slide" Target="/ppt/slides/slide3.xml" Id="Radb03016b9ff4cf2" /><Relationship Type="http://schemas.openxmlformats.org/officeDocument/2006/relationships/slide" Target="/ppt/slides/slide4.xml" Id="R603a3ea74c6242b6" /><Relationship Type="http://schemas.openxmlformats.org/officeDocument/2006/relationships/slide" Target="/ppt/slides/slide5.xml" Id="Rba49acdf86be4990" /><Relationship Type="http://schemas.openxmlformats.org/officeDocument/2006/relationships/slide" Target="/ppt/slides/slide6.xml" Id="Rcb691dc4e6ce4970" /><Relationship Type="http://schemas.openxmlformats.org/officeDocument/2006/relationships/slide" Target="/ppt/slides/slide7.xml" Id="R585a0ff37b404e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c08efca78d40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c394c82ff442da" /><Relationship Type="http://schemas.openxmlformats.org/officeDocument/2006/relationships/notesMaster" Target="/ppt/notesMasters/notesMaster1.xml" Id="R411e2d31d9b141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8eb6795b66468c" /><Relationship Type="http://schemas.openxmlformats.org/officeDocument/2006/relationships/notesMaster" Target="/ppt/notesMasters/notesMaster1.xml" Id="Radcca158163e49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3fb279e4af4f54" /><Relationship Type="http://schemas.openxmlformats.org/officeDocument/2006/relationships/notesMaster" Target="/ppt/notesMasters/notesMaster1.xml" Id="R7dfd218ba55948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6f5a09dff24e58" /><Relationship Type="http://schemas.openxmlformats.org/officeDocument/2006/relationships/notesMaster" Target="/ppt/notesMasters/notesMaster1.xml" Id="R73ce1709bcb646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48eb16522549ff" /><Relationship Type="http://schemas.openxmlformats.org/officeDocument/2006/relationships/notesMaster" Target="/ppt/notesMasters/notesMaster1.xml" Id="Rbfc6602149ed42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2283e2065c4d0c" /><Relationship Type="http://schemas.openxmlformats.org/officeDocument/2006/relationships/notesMaster" Target="/ppt/notesMasters/notesMaster1.xml" Id="R23a93e7d304a49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0cb0ccf8054ab0" /><Relationship Type="http://schemas.openxmlformats.org/officeDocument/2006/relationships/notesMaster" Target="/ppt/notesMasters/notesMaster1.xml" Id="Rf915b1950c454a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2f945745e04e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28b3b925b84ef5" /><Relationship Type="http://schemas.openxmlformats.org/officeDocument/2006/relationships/slideLayout" Target="/ppt/slideLayouts/slideLayout1.xml" Id="Rdca289d950f549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a289d950f549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1694a2dd64255" /><Relationship Type="http://schemas.openxmlformats.org/officeDocument/2006/relationships/image" Target="/ppt/media/image.png" Id="Rcd550a1d0bfb41a9" /><Relationship Type="http://schemas.openxmlformats.org/officeDocument/2006/relationships/image" Target="/ppt/media/image2.png" Id="Rb15be5e7dec3461f" /><Relationship Type="http://schemas.openxmlformats.org/officeDocument/2006/relationships/notesSlide" Target="/ppt/notesSlides/notesSlide1.xml" Id="R42e58a089ffc44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b7795c36d44b2" /><Relationship Type="http://schemas.openxmlformats.org/officeDocument/2006/relationships/notesSlide" Target="/ppt/notesSlides/notesSlide2.xml" Id="R4d457e1624204b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5f304b93049f6" /><Relationship Type="http://schemas.openxmlformats.org/officeDocument/2006/relationships/notesSlide" Target="/ppt/notesSlides/notesSlide3.xml" Id="Rfd5c5c2c24e644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7abec3da24931" /><Relationship Type="http://schemas.openxmlformats.org/officeDocument/2006/relationships/notesSlide" Target="/ppt/notesSlides/notesSlide4.xml" Id="R27939aa5700b49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9773bfa38344b1" /><Relationship Type="http://schemas.openxmlformats.org/officeDocument/2006/relationships/notesSlide" Target="/ppt/notesSlides/notesSlide5.xml" Id="R2f0b2b77d2ab49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330a6596d4aa9" /><Relationship Type="http://schemas.openxmlformats.org/officeDocument/2006/relationships/image" Target="/ppt/media/image3.png" Id="R9f0b8cab0d524677" /><Relationship Type="http://schemas.openxmlformats.org/officeDocument/2006/relationships/notesSlide" Target="/ppt/notesSlides/notesSlide6.xml" Id="R4cdaeda7082d42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2c8c118354e0f" /><Relationship Type="http://schemas.openxmlformats.org/officeDocument/2006/relationships/notesSlide" Target="/ppt/notesSlides/notesSlide7.xml" Id="Raed9974abeaa45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50a1d0bfb41a9"/>
          <a:srcRect xmlns:a="http://schemas.openxmlformats.org/drawingml/2006/main" l="23135" t="0" r="231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6875" y="0"/>
            <a:ext cx="6715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9D8AF-AF4B-4687-8999-6DC04F17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be5e7dec3461f"/>
          <a:stretch xmlns:a="http://schemas.openxmlformats.org/drawingml/2006/main"/>
        </p:blipFill>
        <p:spPr>
          <a:xfrm xmlns:a="http://schemas.openxmlformats.org/drawingml/2006/main">
            <a:off x="685800" y="5905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99BE8-33CF-475C-84F4-B301C4DA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2"/>
                </a:solidFill>
              </a:defRPr>
            </a:pPr>
            <a:r>
              <a:rPr sz="4350" b="1">
                <a:solidFill>
                  <a:srgbClr val="172032"/>
                </a:solidFill>
              </a:rPr>
              <a:t>Scriptorium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699DE-FD52-41DC-89B1-AD4A6379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F50"/>
                </a:solidFill>
              </a:defRPr>
            </a:pPr>
            <a:r>
              <a:rPr sz="1875" b="1">
                <a:solidFill>
                  <a:srgbClr val="243F50"/>
                </a:solidFill>
              </a:rPr>
              <a:t>Filología aplicada para servicios de idioma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1E626-D6BB-4DEF-A687-4F82D90B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61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Traducción, localización, documentación y textos antiguos con método editorial y entregables claros.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DCD26-2247-4599-8938-B478A7B4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57"/>
          </a:solidFill>
          <a:ln xmlns:a="http://schemas.openxmlformats.org/drawingml/2006/main" w="0">
            <a:solidFill>
              <a:srgbClr val="C9A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3AD31-1941-4293-A34E-C87F8010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3F50"/>
                </a:solidFill>
              </a:defRPr>
            </a:pPr>
            <a:r>
              <a:rPr sz="1200" b="1">
                <a:solidFill>
                  <a:srgbClr val="243F50"/>
                </a:solidFill>
              </a:rPr>
              <a:t>josuepug@gmail.com  |  WhatsApp +593 98 741 1592</a:t>
            </a:r>
          </a:p>
        </p:txBody>
      </p:sp>
    </p:spTree>
    <p:extLst>
      <p:ext uri="{BB962C8B-B14F-4D97-AF65-F5344CB8AC3E}">
        <p14:creationId xmlns:p14="http://schemas.microsoft.com/office/powerpoint/2010/main" val="1797970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DF3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91FDAA-A02B-4AC6-9615-3B5AFF7A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F50"/>
                </a:solidFill>
              </a:defRPr>
            </a:pPr>
            <a:r>
              <a:rPr sz="1725" b="1">
                <a:solidFill>
                  <a:srgbClr val="243F50"/>
                </a:solidFill>
              </a:rPr>
              <a:t>SCRIPTORIUM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96F36-7CDC-424B-8E1D-B54B7DAC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LA IDEA CENTRAL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0F796-F30C-4C82-9CA1-F75F4893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001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72032"/>
                </a:solidFill>
              </a:defRPr>
            </a:pPr>
            <a:r>
              <a:rPr sz="3225" b="1">
                <a:solidFill>
                  <a:srgbClr val="172032"/>
                </a:solidFill>
              </a:rPr>
              <a:t>No se venden palabras sueltas: se cuida el recorrido completo del texto.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00B31-D8EB-4E9F-AECC-D6EA143D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704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El valor profesional aparece cuando el idioma, el contexto, el formato y el uso final se leen juntos.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EDA6A-79A7-4D2C-8F52-24F71628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982EC-9C23-4AD2-A1A7-629DB131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C89FF-DC6B-4E83-BD14-51885094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3F50"/>
                </a:solidFill>
              </a:defRPr>
            </a:pPr>
            <a:r>
              <a:rPr sz="1950" b="1">
                <a:solidFill>
                  <a:srgbClr val="243F50"/>
                </a:solidFill>
              </a:rPr>
              <a:t>Lectura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EBC4D-AFEB-4E3E-97F0-870885500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6"/>
                </a:solidFill>
              </a:defRPr>
            </a:pPr>
            <a:r>
              <a:rPr sz="1275" b="0">
                <a:solidFill>
                  <a:srgbClr val="667386"/>
                </a:solidFill>
              </a:rPr>
              <a:t>El archivo se interpreta antes de prometer alcance, precio o entrega.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6B59B-5E10-43FA-A233-808C59A6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2430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FAC34-A549-4AE0-97DD-A3328B9A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338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F6AF5-5082-4986-85E8-641DD88B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386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3F50"/>
                </a:solidFill>
              </a:defRPr>
            </a:pPr>
            <a:r>
              <a:rPr sz="1950" b="1">
                <a:solidFill>
                  <a:srgbClr val="243F50"/>
                </a:solidFill>
              </a:rPr>
              <a:t>Criterio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A24F03-71EC-4FB0-9399-BAA4B825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292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6"/>
                </a:solidFill>
              </a:defRPr>
            </a:pPr>
            <a:r>
              <a:rPr sz="1275" b="0">
                <a:solidFill>
                  <a:srgbClr val="667386"/>
                </a:solidFill>
              </a:rPr>
              <a:t>Cada idioma, registro y soporte pide una decisión distinta.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79B1C-20CE-4D59-8A76-ECFF5395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24300"/>
            <a:ext cx="3143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BEF3EA-C0CA-4179-A761-DA9E08B2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33850"/>
            <a:ext cx="264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D0A95-F6E0-44B0-BBF8-F7AE8552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3F50"/>
                </a:solidFill>
              </a:defRPr>
            </a:pPr>
            <a:r>
              <a:rPr sz="1950" b="1">
                <a:solidFill>
                  <a:srgbClr val="243F50"/>
                </a:solidFill>
              </a:rPr>
              <a:t>Entrega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5C1F15-CE4E-4DC7-81B8-0C859985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292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6"/>
                </a:solidFill>
              </a:defRPr>
            </a:pPr>
            <a:r>
              <a:rPr sz="1275" b="0">
                <a:solidFill>
                  <a:srgbClr val="667386"/>
                </a:solidFill>
              </a:rPr>
              <a:t>El resultado debe ser útil para tesis, web, publicación, clase o marca.</a:t>
            </a:r>
          </a:p>
        </p:txBody>
      </p:sp>
    </p:spTree>
    <p:extLst>
      <p:ext uri="{BB962C8B-B14F-4D97-AF65-F5344CB8AC3E}">
        <p14:creationId xmlns:p14="http://schemas.microsoft.com/office/powerpoint/2010/main" val="1755082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9350AD-E7E4-4172-9AE9-C22648FE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F50"/>
                </a:solidFill>
              </a:defRPr>
            </a:pPr>
            <a:r>
              <a:rPr sz="1725" b="1">
                <a:solidFill>
                  <a:srgbClr val="243F50"/>
                </a:solidFill>
              </a:rPr>
              <a:t>SCRIPTORIUM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1515F-AF0A-40F3-862E-30C09A6C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MÉTODO DE TRABAJO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36ECF-E088-4CBE-A511-E2FCA805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2"/>
                </a:solidFill>
              </a:defRPr>
            </a:pPr>
            <a:r>
              <a:rPr sz="2925" b="1">
                <a:solidFill>
                  <a:srgbClr val="172032"/>
                </a:solidFill>
              </a:rPr>
              <a:t>Cinco capas evitan que el proyecto se vuelva genérico.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3ED00-5974-4C38-8C64-690644A2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952625" cy="2381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8495E-DF2B-4D4D-BF5C-CB1D7744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A857"/>
                </a:solidFill>
              </a:defRPr>
            </a:pPr>
            <a:r>
              <a:rPr sz="2550" b="1">
                <a:solidFill>
                  <a:srgbClr val="C9A857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13DEF-113F-46A2-AEF4-C16FE3C8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F50"/>
                </a:solidFill>
              </a:defRPr>
            </a:pPr>
            <a:r>
              <a:rPr sz="2100" b="1">
                <a:solidFill>
                  <a:srgbClr val="243F50"/>
                </a:solidFill>
              </a:rPr>
              <a:t>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67154-4DED-4EE6-B98F-35C5D9AB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86"/>
                </a:solidFill>
              </a:defRPr>
            </a:pPr>
            <a:r>
              <a:rPr sz="1200" b="0">
                <a:solidFill>
                  <a:srgbClr val="667386"/>
                </a:solidFill>
              </a:rPr>
              <a:t>archivo, soporte y legibilidad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F3F3F-DD69-4C00-8DF3-BF25A40D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000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57"/>
          </a:solidFill>
          <a:ln xmlns:a="http://schemas.openxmlformats.org/drawingml/2006/main" w="0">
            <a:solidFill>
              <a:srgbClr val="C9A8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C442B-E7F9-4F5B-93D8-61B3108E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38450"/>
            <a:ext cx="1952625" cy="2381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ACFE9-E052-4A45-A642-A5C18543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051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A857"/>
                </a:solidFill>
              </a:defRPr>
            </a:pPr>
            <a:r>
              <a:rPr sz="2550" b="1">
                <a:solidFill>
                  <a:srgbClr val="C9A857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AABBD-3CA5-411E-9A6E-B5FD7021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F50"/>
                </a:solidFill>
              </a:defRPr>
            </a:pPr>
            <a:r>
              <a:rPr sz="2100" b="1">
                <a:solidFill>
                  <a:srgbClr val="243F50"/>
                </a:solidFill>
              </a:rPr>
              <a:t>Forma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AE30B-A22C-424C-9514-FB2C2345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3434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86"/>
                </a:solidFill>
              </a:defRPr>
            </a:pPr>
            <a:r>
              <a:rPr sz="1200" b="0">
                <a:solidFill>
                  <a:srgbClr val="667386"/>
                </a:solidFill>
              </a:rPr>
              <a:t>grafía, citas, interfaz o maquetación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31704-798D-409E-A5FA-395AD6CDF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00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57"/>
          </a:solidFill>
          <a:ln xmlns:a="http://schemas.openxmlformats.org/drawingml/2006/main" w="0">
            <a:solidFill>
              <a:srgbClr val="C9A8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A7EF0C-DC7C-4907-BC94-56ACEB0D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38450"/>
            <a:ext cx="1952625" cy="2381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66674-FEB2-4691-9293-2C5D63F4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A857"/>
                </a:solidFill>
              </a:defRPr>
            </a:pPr>
            <a:r>
              <a:rPr sz="2550" b="1">
                <a:solidFill>
                  <a:srgbClr val="C9A857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B2FD8-EDFD-403B-925D-EA4B5181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F50"/>
                </a:solidFill>
              </a:defRPr>
            </a:pPr>
            <a:r>
              <a:rPr sz="2100" b="1">
                <a:solidFill>
                  <a:srgbClr val="243F50"/>
                </a:solidFill>
              </a:rPr>
              <a:t>Lengua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5C381-7870-42A3-9EA5-085B8965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434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86"/>
                </a:solidFill>
              </a:defRPr>
            </a:pPr>
            <a:r>
              <a:rPr sz="1200" b="0">
                <a:solidFill>
                  <a:srgbClr val="667386"/>
                </a:solidFill>
              </a:rPr>
              <a:t>gramática, registro y término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2898D4-431F-427D-B80A-81AFC679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57"/>
          </a:solidFill>
          <a:ln xmlns:a="http://schemas.openxmlformats.org/drawingml/2006/main" w="0">
            <a:solidFill>
              <a:srgbClr val="C9A8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B7E37-2B8D-471A-85B5-69EC07FB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38450"/>
            <a:ext cx="1952625" cy="2381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3DC54A-3747-433D-84EC-BE7A34B0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051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A857"/>
                </a:solidFill>
              </a:defRPr>
            </a:pPr>
            <a:r>
              <a:rPr sz="2550" b="1">
                <a:solidFill>
                  <a:srgbClr val="C9A857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35C43-8966-46CD-B39B-6D8B08EB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14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F50"/>
                </a:solidFill>
              </a:defRPr>
            </a:pPr>
            <a:r>
              <a:rPr sz="2100" b="1">
                <a:solidFill>
                  <a:srgbClr val="243F50"/>
                </a:solidFill>
              </a:rPr>
              <a:t>Contexto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71FC0D-3445-4E35-B24D-2D9DCA86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434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86"/>
                </a:solidFill>
              </a:defRPr>
            </a:pPr>
            <a:r>
              <a:rPr sz="1200" b="0">
                <a:solidFill>
                  <a:srgbClr val="667386"/>
                </a:solidFill>
              </a:rPr>
              <a:t>época, género, lector y uso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682D49-97DC-44CD-BFEA-46B8EA79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57"/>
          </a:solidFill>
          <a:ln xmlns:a="http://schemas.openxmlformats.org/drawingml/2006/main" w="0">
            <a:solidFill>
              <a:srgbClr val="C9A8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28D83-0524-41C9-8430-AC8E428A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38450"/>
            <a:ext cx="1952625" cy="2381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02681-DF0B-49B5-81E6-B4F32D57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051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9A857"/>
                </a:solidFill>
              </a:defRPr>
            </a:pPr>
            <a:r>
              <a:rPr sz="2550" b="1">
                <a:solidFill>
                  <a:srgbClr val="C9A857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AA4FDD-BC58-4A4B-8584-58DDFF9A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14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F50"/>
                </a:solidFill>
              </a:defRPr>
            </a:pPr>
            <a:r>
              <a:rPr sz="2100" b="1">
                <a:solidFill>
                  <a:srgbClr val="243F50"/>
                </a:solidFill>
              </a:rPr>
              <a:t>Entrega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5E2E43-513F-459A-A211-B4025A00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343400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386"/>
                </a:solidFill>
              </a:defRPr>
            </a:pPr>
            <a:r>
              <a:rPr sz="1200" b="0">
                <a:solidFill>
                  <a:srgbClr val="667386"/>
                </a:solidFill>
              </a:rPr>
              <a:t>PDF, DOCX, glosario, nota o publicación</a:t>
            </a:r>
          </a:p>
        </p:txBody>
      </p:sp>
    </p:spTree>
    <p:extLst>
      <p:ext uri="{BB962C8B-B14F-4D97-AF65-F5344CB8AC3E}">
        <p14:creationId xmlns:p14="http://schemas.microsoft.com/office/powerpoint/2010/main" val="862048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4158B9-B0A7-43A4-BB2F-C833D016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F50"/>
                </a:solidFill>
              </a:defRPr>
            </a:pPr>
            <a:r>
              <a:rPr sz="1725" b="1">
                <a:solidFill>
                  <a:srgbClr val="243F50"/>
                </a:solidFill>
              </a:rPr>
              <a:t>SCRIPTORIUM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70D96-904D-4FC8-B622-045B7743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SERVICIOS POR COTIZACIÓN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7AE23-DB89-4553-ABAB-72985B06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524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2"/>
                </a:solidFill>
              </a:defRPr>
            </a:pPr>
            <a:r>
              <a:rPr sz="2850" b="1">
                <a:solidFill>
                  <a:srgbClr val="172032"/>
                </a:solidFill>
              </a:rPr>
              <a:t>La oferta se organiza por uso real, no por una lista interminable de idiomas.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C0FFA-C0BF-49DF-8861-C7AA4C7C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32861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DC1FA-2D21-43DE-9E9A-D28C520C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790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SERVICIO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F8E65-137B-4A24-9AC8-8287FB90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2790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3F50"/>
                </a:solidFill>
              </a:defRPr>
            </a:pPr>
            <a:r>
              <a:rPr sz="1950" b="1">
                <a:solidFill>
                  <a:srgbClr val="243F50"/>
                </a:solidFill>
              </a:rPr>
              <a:t>Traducción y academia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96F72-A1D6-4920-989F-EC8720EB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2790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6"/>
                </a:solidFill>
              </a:defRPr>
            </a:pPr>
            <a:r>
              <a:rPr sz="1275" b="0">
                <a:solidFill>
                  <a:srgbClr val="667386"/>
                </a:solidFill>
              </a:rPr>
              <a:t>Documentos, resúmenes, tesis, propuestas, bibliografía y material editorial.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3FE56-2471-4F9F-9BF6-88FF4A61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52700"/>
            <a:ext cx="32861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C4353-7030-4AC0-9892-2404E487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62250"/>
            <a:ext cx="2790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SERVICIO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1BAA2-E7F4-45DB-A327-2BCE5721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67050"/>
            <a:ext cx="2790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3F50"/>
                </a:solidFill>
              </a:defRPr>
            </a:pPr>
            <a:r>
              <a:rPr sz="1950" b="1">
                <a:solidFill>
                  <a:srgbClr val="243F50"/>
                </a:solidFill>
              </a:rPr>
              <a:t>Localización y marca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851D0-CE2D-499F-80C8-DD122FF6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2790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6"/>
                </a:solidFill>
              </a:defRPr>
            </a:pPr>
            <a:r>
              <a:rPr sz="1275" b="0">
                <a:solidFill>
                  <a:srgbClr val="667386"/>
                </a:solidFill>
              </a:rPr>
              <a:t>Web, app, microcopy, SEO básico, campañas, tono bilingüe y transcreación.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750DF-2B38-46FB-A459-F5CF274C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32861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10002-8FE7-40DC-BF6D-CC5802E6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790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SERVICIO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6135C-AFA8-452E-8DEB-B7D08350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67050"/>
            <a:ext cx="27908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3F50"/>
                </a:solidFill>
              </a:defRPr>
            </a:pPr>
            <a:r>
              <a:rPr sz="1950" b="1">
                <a:solidFill>
                  <a:srgbClr val="243F50"/>
                </a:solidFill>
              </a:rPr>
              <a:t>Lenguas históricas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5F464-E084-4D2A-A1BC-9FA26A18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57600"/>
            <a:ext cx="27908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6"/>
                </a:solidFill>
              </a:defRPr>
            </a:pPr>
            <a:r>
              <a:rPr sz="1275" b="0">
                <a:solidFill>
                  <a:srgbClr val="667386"/>
                </a:solidFill>
              </a:rPr>
              <a:t>Transliteración, muestras anotadas, contexto cultural y enseñanza introductoria.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84D03-2AD7-46EA-9668-068B752C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Condición comercial: cada proyecto se evalúa por idioma, extensión, formato, urgencia, sensibilidad y nivel de revisión antes de aceptar.</a:t>
            </a:r>
          </a:p>
        </p:txBody>
      </p:sp>
    </p:spTree>
    <p:extLst>
      <p:ext uri="{BB962C8B-B14F-4D97-AF65-F5344CB8AC3E}">
        <p14:creationId xmlns:p14="http://schemas.microsoft.com/office/powerpoint/2010/main" val="10711989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DF3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4F5F9F-38EA-4196-975D-9172B3D9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F50"/>
                </a:solidFill>
              </a:defRPr>
            </a:pPr>
            <a:r>
              <a:rPr sz="1725" b="1">
                <a:solidFill>
                  <a:srgbClr val="243F50"/>
                </a:solidFill>
              </a:rPr>
              <a:t>SCRIPTORIUM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004A9-89D9-497B-936F-464DDEC0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MUESTRA FILOLÓGICA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52D9C-A9DE-434B-809F-BD807077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2"/>
                </a:solidFill>
              </a:defRPr>
            </a:pPr>
            <a:r>
              <a:rPr sz="2925" b="1">
                <a:solidFill>
                  <a:srgbClr val="172032"/>
                </a:solidFill>
              </a:rPr>
              <a:t>Una buena muestra separa el texto de la interpretación.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B9A38-10A4-4B3C-AE44-7EFD8F0A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4953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2779D-16BB-4D39-AE92-43FD6192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A857"/>
                </a:solidFill>
              </a:defRPr>
            </a:pPr>
            <a:r>
              <a:rPr sz="1350" b="1">
                <a:solidFill>
                  <a:srgbClr val="C9A857"/>
                </a:solidFill>
              </a:rPr>
              <a:t>Fragmento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72B81-F170-4641-851B-8E798193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2"/>
                </a:solidFill>
              </a:defRPr>
            </a:pPr>
            <a:r>
              <a:rPr sz="2025" b="1">
                <a:solidFill>
                  <a:srgbClr val="172032"/>
                </a:solidFill>
              </a:rPr>
              <a:t>Original / transliteración / traducción literal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60464-0ED4-4D37-BB9E-4BF3522D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576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86"/>
                </a:solidFill>
              </a:defRPr>
            </a:pPr>
            <a:r>
              <a:rPr sz="1425" b="0">
                <a:solidFill>
                  <a:srgbClr val="667386"/>
                </a:solidFill>
              </a:rPr>
              <a:t>El lector ve qué pertenece al texto y qué pertenece a la explicación.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50399-6992-4FB4-9062-BE76BC9B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4953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0B7EF-9BAE-485E-AF3C-6B278367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956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9A857"/>
                </a:solidFill>
              </a:defRPr>
            </a:pPr>
            <a:r>
              <a:rPr sz="1350" b="1">
                <a:solidFill>
                  <a:srgbClr val="C9A857"/>
                </a:solidFill>
              </a:rPr>
              <a:t>Nota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2D495-998E-4D57-A079-A6C1AB4A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032"/>
                </a:solidFill>
              </a:defRPr>
            </a:pPr>
            <a:r>
              <a:rPr sz="2025" b="1">
                <a:solidFill>
                  <a:srgbClr val="172032"/>
                </a:solidFill>
              </a:rPr>
              <a:t>Contexto / límite / uso educativo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65BB9-CB2E-4CFD-AF01-60306184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57650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86"/>
                </a:solidFill>
              </a:defRPr>
            </a:pPr>
            <a:r>
              <a:rPr sz="1425" b="0">
                <a:solidFill>
                  <a:srgbClr val="667386"/>
                </a:solidFill>
              </a:rPr>
              <a:t>La marca evita parecer certificadora cuando está entregando guía, documentación o aprendizaje.</a:t>
            </a:r>
          </a:p>
        </p:txBody>
      </p:sp>
    </p:spTree>
    <p:extLst>
      <p:ext uri="{BB962C8B-B14F-4D97-AF65-F5344CB8AC3E}">
        <p14:creationId xmlns:p14="http://schemas.microsoft.com/office/powerpoint/2010/main" val="19677821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FF468F-1157-43CE-9BCC-5B6FC19A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F50"/>
                </a:solidFill>
              </a:defRPr>
            </a:pPr>
            <a:r>
              <a:rPr sz="1725" b="1">
                <a:solidFill>
                  <a:srgbClr val="243F50"/>
                </a:solidFill>
              </a:rPr>
              <a:t>SCRIPTORIUM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14133-92E4-4113-8142-0305346E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FACEBOOK E INSTAGRAM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7C27D-52F7-4A8F-BDCF-320916CD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2"/>
                </a:solidFill>
              </a:defRPr>
            </a:pPr>
            <a:r>
              <a:rPr sz="3000" b="1">
                <a:solidFill>
                  <a:srgbClr val="172032"/>
                </a:solidFill>
              </a:rPr>
              <a:t>El lanzamiento debe mostrar método antes que ruido visual.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32507-C58C-471E-AE4E-53E82043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F50"/>
                </a:solidFill>
              </a:defRPr>
            </a:pPr>
            <a:r>
              <a:rPr sz="1650" b="1">
                <a:solidFill>
                  <a:srgbClr val="243F50"/>
                </a:solidFill>
              </a:rPr>
              <a:t>Secuencia recomendada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C11CE-9A5A-413A-8E30-51084B04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1. Presentación de marca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FC7B2-0EBA-48C3-88D4-C8A33D75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2. Método en cinco capas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60A05-F516-4EEC-9EE7-286D60C5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3. Servicios por cotización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8B307-AF51-4929-A139-E452DFD6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4. Cómo enviar un 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6A404-EF45-423A-87C4-21720AF0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5. Documento de portafolio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b8cab0d524677"/>
          <a:srcRect xmlns:a="http://schemas.openxmlformats.org/drawingml/2006/main" l="14249" t="0" r="142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38950" y="1828800"/>
            <a:ext cx="4095750" cy="314325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9CC992-59D0-4E7C-91CD-F81ED188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14950"/>
            <a:ext cx="409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57"/>
          </a:solidFill>
          <a:ln xmlns:a="http://schemas.openxmlformats.org/drawingml/2006/main" w="0">
            <a:solidFill>
              <a:srgbClr val="C9A8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A05E7-3C08-48E5-9C2E-CE904FFF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435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3F50"/>
                </a:solidFill>
              </a:defRPr>
            </a:pPr>
            <a:r>
              <a:rPr sz="1275" b="1">
                <a:solidFill>
                  <a:srgbClr val="243F50"/>
                </a:solidFill>
              </a:rPr>
              <a:t>Bio: Filología aplicada, traducción, localización y documentación lingüística.</a:t>
            </a:r>
          </a:p>
        </p:txBody>
      </p:sp>
    </p:spTree>
    <p:extLst>
      <p:ext uri="{BB962C8B-B14F-4D97-AF65-F5344CB8AC3E}">
        <p14:creationId xmlns:p14="http://schemas.microsoft.com/office/powerpoint/2010/main" val="1897181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50CD63-6D47-440A-B175-8E288CAA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F50"/>
                </a:solidFill>
              </a:defRPr>
            </a:pPr>
            <a:r>
              <a:rPr sz="1725" b="1">
                <a:solidFill>
                  <a:srgbClr val="243F50"/>
                </a:solidFill>
              </a:rPr>
              <a:t>SCRIPTORIUM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5BE6B-A7E2-4ED2-903D-A9D4586B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PRÓXIMO MOVIMIENTO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73821-B568-4BB1-BA95-80C8B836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2"/>
                </a:solidFill>
              </a:defRPr>
            </a:pPr>
            <a:r>
              <a:rPr sz="3000" b="1">
                <a:solidFill>
                  <a:srgbClr val="172032"/>
                </a:solidFill>
              </a:rPr>
              <a:t>La web queda lista para vender confianza, no solo mostrar secciones.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C41139-1482-41C3-9D24-B17B944D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19087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8A916-86BE-4BAD-83CF-8CB7FD0F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2695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C123D-338E-4798-8432-18316D44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26955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3F50"/>
                </a:solidFill>
              </a:defRPr>
            </a:pPr>
            <a:r>
              <a:rPr sz="1950" b="1">
                <a:solidFill>
                  <a:srgbClr val="243F50"/>
                </a:solidFill>
              </a:rPr>
              <a:t>Publicar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B4233-8B3F-4E58-9342-506EB710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86200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6"/>
                </a:solidFill>
              </a:defRPr>
            </a:pPr>
            <a:r>
              <a:rPr sz="1275" b="0">
                <a:solidFill>
                  <a:srgbClr val="667386"/>
                </a:solidFill>
              </a:rPr>
              <a:t>Sitio con assets, documentos, SEO y enlaces actualizados.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C443E-FBF6-4610-B5C7-326DEFFD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19087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2EE82-7338-4E60-A974-4797612BE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90850"/>
            <a:ext cx="2695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7F87F-152F-4B74-ADE2-EEFD67E3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95650"/>
            <a:ext cx="26955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3F50"/>
                </a:solidFill>
              </a:defRPr>
            </a:pPr>
            <a:r>
              <a:rPr sz="1950" b="1">
                <a:solidFill>
                  <a:srgbClr val="243F50"/>
                </a:solidFill>
              </a:rPr>
              <a:t>Abrir redes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DD5D1-B6EB-4898-8581-186AB44A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86200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6"/>
                </a:solidFill>
              </a:defRPr>
            </a:pPr>
            <a:r>
              <a:rPr sz="1275" b="0">
                <a:solidFill>
                  <a:srgbClr val="667386"/>
                </a:solidFill>
              </a:rPr>
              <a:t>Usar cover, post, story, bio y secuencia inicial.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556127-DCA5-42C6-8D6F-9C7E6BB6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319087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62AF3-9EF3-4723-88F6-6024170C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90850"/>
            <a:ext cx="2695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A857"/>
                </a:solidFill>
              </a:defRPr>
            </a:pPr>
            <a:r>
              <a:rPr sz="900" b="1">
                <a:solidFill>
                  <a:srgbClr val="C9A857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F335E-1114-437E-BD13-09B2E32C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95650"/>
            <a:ext cx="26955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3F50"/>
                </a:solidFill>
              </a:defRPr>
            </a:pPr>
            <a:r>
              <a:rPr sz="1950" b="1">
                <a:solidFill>
                  <a:srgbClr val="243F50"/>
                </a:solidFill>
              </a:rPr>
              <a:t>Cotizar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5856E-0568-4D36-81FD-28066D7F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86200"/>
            <a:ext cx="26955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86"/>
                </a:solidFill>
              </a:defRPr>
            </a:pPr>
            <a:r>
              <a:rPr sz="1275" b="0">
                <a:solidFill>
                  <a:srgbClr val="667386"/>
                </a:solidFill>
              </a:rPr>
              <a:t>Pedir brief y fragmento antes de archivos sensibles.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CB2C9-2CA2-4D34-8785-1291E0CF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Scriptorium puede crecer después con dominio propio, correo profesional, casos reales, testimonios y calendario editorial.</a:t>
            </a:r>
          </a:p>
        </p:txBody>
      </p:sp>
    </p:spTree>
    <p:extLst>
      <p:ext uri="{BB962C8B-B14F-4D97-AF65-F5344CB8AC3E}">
        <p14:creationId xmlns:p14="http://schemas.microsoft.com/office/powerpoint/2010/main" val="1405031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2026-07-06T15:20:48.0460000Z</dcterms:created>
  <dcterms:modified xsi:type="dcterms:W3CDTF">2026-07-06T15:20:48.0470000Z</dcterms:modified>
</coreProperties>
</file>